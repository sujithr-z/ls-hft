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5F8FC"/>
                </a:solidFill>
              </a:rPr>
              <a:t>HIGH-FREQUENCY TRADING (HFT)</a:t>
            </a:r>
          </a:p>
          <a:p>
            <a:pPr algn="ctr"/>
            <a:r>
              <a:rPr sz="2200">
                <a:solidFill>
                  <a:srgbClr val="33BEB4"/>
                </a:solidFill>
              </a:rPr>
              <a:t>Working Model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34640" y="3657600"/>
            <a:ext cx="649224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Core idea</a:t>
            </a:r>
          </a:p>
          <a:p>
            <a:r>
              <a:rPr sz="1300">
                <a:solidFill>
                  <a:srgbClr val="F5F8FC"/>
                </a:solidFill>
              </a:rPr>
              <a:t>Use computers, algorithms and ultra-low latency to detect market opportunities and place orders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1. Brief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Electronic markets made it possible for computers to receive market data and send orders automatically.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HFT developed as firms competed to reduce the time between market-data arrival and order execution.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It combines quantitative strategies, software engineering, networking and automated risk controls.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Real HFT operates at extremely low latency; this student model demonstrates the same decision flow at a safe, simplified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2. What Does HFT Mean?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HIGH-FREQUENCY</a:t>
            </a:r>
          </a:p>
          <a:p>
            <a:r>
              <a:rPr sz="1300">
                <a:solidFill>
                  <a:srgbClr val="F5F8FC"/>
                </a:solidFill>
              </a:rPr>
              <a:t>Trading activity where algorithms process market information and execute orders very quickly.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AUTOMATED</a:t>
            </a:r>
          </a:p>
          <a:p>
            <a:r>
              <a:rPr sz="1300">
                <a:solidFill>
                  <a:srgbClr val="F5F8FC"/>
                </a:solidFill>
              </a:rPr>
              <a:t>Rules are encoded in software so decisions do not depend on manual clicking.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F5A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F5A641"/>
                </a:solidFill>
              </a:rPr>
              <a:t>LOW LATENCY</a:t>
            </a:r>
          </a:p>
          <a:p>
            <a:r>
              <a:rPr sz="1300">
                <a:solidFill>
                  <a:srgbClr val="F5F8FC"/>
                </a:solidFill>
              </a:rPr>
              <a:t>The system is engineered to minimize the time from data → decision →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8FC"/>
                </a:solidFill>
              </a:defRPr>
            </a:pPr>
            <a:r>
              <a:t>• HFT is not simply “fast trading”; it also requires market access, reliable data, risk controls and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3. Purpose of HFT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React rapidly to changes in prices, order books and liquidity.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Capture small, short-lived opportunities that may disappear quickly.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Provide liquidity by continuously placing and cancelling quotes in some strategies.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Automate execution to reduce manual delay and enforce predefined rules.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Improve consistency, speed and scalability of trading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4. How Does HFT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ED0"/>
                </a:solidFill>
              </a:rPr>
              <a:t>Simplified end-to-end trading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Market Data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1720" y="242316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96311" y="210312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Algorithm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7951" y="242316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52544" y="210312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Risk Check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4184" y="242316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08776" y="210312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Order Gateway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00416" y="242316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65007" y="210312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Exchange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56648" y="242316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921239" y="210312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Fill /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The algorithm converts incoming information into a trading decision.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A risk layer can reject an order before it reaches the exchange.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Execution results return to the system and update the strategy.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5. HFT Working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ED0"/>
                </a:solidFill>
              </a:rPr>
              <a:t>Illustrative latency and decision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682496"/>
            <a:ext cx="5852160" cy="256032"/>
          </a:xfrm>
          <a:prstGeom prst="rect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0" y="162763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ED0"/>
                </a:solidFill>
              </a:rPr>
              <a:t>20 µs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459736"/>
            <a:ext cx="4389120" cy="256032"/>
          </a:xfrm>
          <a:prstGeom prst="rect">
            <a:avLst/>
          </a:prstGeom>
          <a:solidFill>
            <a:srgbClr val="468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0" y="240487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ED0"/>
                </a:solidFill>
              </a:rPr>
              <a:t>15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3236976"/>
            <a:ext cx="2340864" cy="256032"/>
          </a:xfrm>
          <a:prstGeom prst="rect">
            <a:avLst/>
          </a:prstGeom>
          <a:solidFill>
            <a:srgbClr val="F5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0" y="31821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ED0"/>
                </a:solidFill>
              </a:rPr>
              <a:t>8 µs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014215"/>
            <a:ext cx="3511296" cy="256032"/>
          </a:xfrm>
          <a:prstGeom prst="rect">
            <a:avLst/>
          </a:prstGeom>
          <a:solidFill>
            <a:srgbClr val="53B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39593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ED0"/>
                </a:solidFill>
              </a:rPr>
              <a:t>12 µs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4791456"/>
            <a:ext cx="7315200" cy="256032"/>
          </a:xfrm>
          <a:prstGeom prst="rect">
            <a:avLst/>
          </a:prstGeom>
          <a:solidFill>
            <a:srgbClr val="E1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47365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1BED0"/>
                </a:solidFill>
              </a:rPr>
              <a:t>25 µs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5F8FC"/>
                </a:solidFill>
              </a:defRPr>
            </a:pPr>
            <a:r>
              <a:t>• Illustrative only: actual HFT latency varies widely by strategy, venue and infrastructure.</a:t>
            </a:r>
          </a:p>
          <a:p>
            <a:pPr>
              <a:spcAft>
                <a:spcPts val="1200"/>
              </a:spcAft>
              <a:defRPr sz="1300">
                <a:solidFill>
                  <a:srgbClr val="F5F8FC"/>
                </a:solidFill>
              </a:defRPr>
            </a:pPr>
            <a:r>
              <a:t>• Lower latency can improve reaction time, but speed alone does not guarantee profit.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6. Block Diagram /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Data Feed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31720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96311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Normalizer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7951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52544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Strategy Engine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44184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Risk Engine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65007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Order Manager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56648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21239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Exchange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310896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53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53BE73"/>
                </a:solidFill>
              </a:rPr>
              <a:t>Monitoring</a:t>
            </a:r>
          </a:p>
          <a:p>
            <a:r>
              <a:rPr sz="1300">
                <a:solidFill>
                  <a:srgbClr val="F5F8FC"/>
                </a:solidFill>
              </a:rPr>
              <a:t>Latency, fills, P&amp;L, errors and system health.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657600"/>
            <a:ext cx="310896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E1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E15656"/>
                </a:solidFill>
              </a:rPr>
              <a:t>Kill Switch</a:t>
            </a:r>
          </a:p>
          <a:p>
            <a:r>
              <a:rPr sz="1300">
                <a:solidFill>
                  <a:srgbClr val="F5F8FC"/>
                </a:solidFill>
              </a:rPr>
              <a:t>Immediately disables order submission when limits are breached.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10896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Logs</a:t>
            </a:r>
          </a:p>
          <a:p>
            <a:r>
              <a:rPr sz="1300">
                <a:solidFill>
                  <a:srgbClr val="F5F8FC"/>
                </a:solidFill>
              </a:rPr>
              <a:t>Stores events for audit, debugging and performance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7. Real-World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1) Obtain permitted market-data and trading access from a regulated broker/exchange.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2) Build a market-data handler and maintain a synchronized order-book view.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3) Implement and back-test a clearly defined strategy using historical data.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4) Add pre-trade risk controls, position limits, price bands and a kill switch.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5) Test in simulation/paper trading before controlled production deployment.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6) Monitor latency, rejected orders, fills, exposures and operational failures continuously.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8. Necessary Things Required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74320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Hardware</a:t>
            </a:r>
          </a:p>
          <a:p>
            <a:r>
              <a:rPr sz="1300">
                <a:solidFill>
                  <a:srgbClr val="F5F8FC"/>
                </a:solidFill>
              </a:rPr>
              <a:t>CPU / microcontroller for demo, RAM, storage, network interface and stable power.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25880"/>
            <a:ext cx="274320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Software</a:t>
            </a:r>
          </a:p>
          <a:p>
            <a:r>
              <a:rPr sz="1300">
                <a:solidFill>
                  <a:srgbClr val="F5F8FC"/>
                </a:solidFill>
              </a:rPr>
              <a:t>Trading logic, data parser, order simulator, dashboard and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25880"/>
            <a:ext cx="274320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F5A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F5A641"/>
                </a:solidFill>
              </a:rPr>
              <a:t>Connectivity</a:t>
            </a:r>
          </a:p>
          <a:p>
            <a:r>
              <a:rPr sz="1300">
                <a:solidFill>
                  <a:srgbClr val="F5F8FC"/>
                </a:solidFill>
              </a:rPr>
              <a:t>Reliable low-latency network and an authorized market-data/order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325880"/>
            <a:ext cx="210312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E1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E15656"/>
                </a:solidFill>
              </a:rPr>
              <a:t>Controls</a:t>
            </a:r>
          </a:p>
          <a:p>
            <a:r>
              <a:rPr sz="1300">
                <a:solidFill>
                  <a:srgbClr val="F5F8FC"/>
                </a:solidFill>
              </a:rPr>
              <a:t>Risk limits, watchdog, emergency stop and audit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</a:defRPr>
            </a:pPr>
            <a:r>
              <a:t>• For a classroom model, real-money exchange connectivity is unnecessary. A simulated price feed is safer and easier to demonstrate.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9. How Does Our Working Model Work?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57400"/>
            <a:ext cx="2062886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Input Price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02966" y="23774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67558" y="2057400"/>
            <a:ext cx="2062886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Price Generator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30444" y="23774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95036" y="2057400"/>
            <a:ext cx="2062886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HFT Rule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57923" y="23774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22515" y="2057400"/>
            <a:ext cx="2062886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Risk Check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85401" y="23774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49993" y="2057400"/>
            <a:ext cx="2062886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LED / Display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Input: a changing price or two simulated market prices.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The model compares prices against a predefined rule or threshold.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If the condition is met and risk limits allow it, the model generates a simulated BUY/SELL signal.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LEDs, a buzzer or display show the result. No real trade is placed.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10. Working Principle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INPUT</a:t>
            </a:r>
          </a:p>
          <a:p>
            <a:r>
              <a:rPr sz="1300">
                <a:solidFill>
                  <a:srgbClr val="F5F8FC"/>
                </a:solidFill>
              </a:rPr>
              <a:t>Price A = ₹100.00
Price B = ₹100.08
Threshold = ₹0.05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38328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DECISION</a:t>
            </a:r>
          </a:p>
          <a:p>
            <a:r>
              <a:rPr sz="1300">
                <a:solidFill>
                  <a:srgbClr val="F5F8FC"/>
                </a:solidFill>
              </a:rPr>
              <a:t>Difference = ₹0.08
₹0.08 &gt; ₹0.05
→ Condition 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383280" cy="1920240"/>
          </a:xfrm>
          <a:prstGeom prst="roundRect">
            <a:avLst/>
          </a:prstGeom>
          <a:solidFill>
            <a:srgbClr val="141F31"/>
          </a:solidFill>
          <a:ln>
            <a:solidFill>
              <a:srgbClr val="53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53BE73"/>
                </a:solidFill>
              </a:rPr>
              <a:t>OUTPUT</a:t>
            </a:r>
          </a:p>
          <a:p>
            <a:r>
              <a:rPr sz="1300">
                <a:solidFill>
                  <a:srgbClr val="F5F8FC"/>
                </a:solidFill>
              </a:rPr>
              <a:t>Generate simulated
BUY/SELL signal
and display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The demonstration represents the logic of an automated trading system, not a profitable trading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11. Main Components &amp;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017520" cy="512064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Microcontroller / PC</a:t>
            </a:r>
          </a:p>
          <a:p>
            <a:endParaRPr sz="1700" b="1">
              <a:solidFill>
                <a:srgbClr val="33BEB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77639" y="130759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Runs the HFT simulation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017520" cy="512064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Input / Price Generator</a:t>
            </a:r>
          </a:p>
          <a:p>
            <a:endParaRPr sz="1700" b="1">
              <a:solidFill>
                <a:srgbClr val="4687E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77639" y="194767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Creates or receives changing market-price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017520" cy="512064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Display / LEDs</a:t>
            </a:r>
          </a:p>
          <a:p>
            <a:endParaRPr sz="1700" b="1">
              <a:solidFill>
                <a:srgbClr val="33BEB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77639" y="258775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Shows price, decision and system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79"/>
            <a:ext cx="3017520" cy="512064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Network Module (optional)</a:t>
            </a:r>
          </a:p>
          <a:p>
            <a:endParaRPr sz="1700" b="1">
              <a:solidFill>
                <a:srgbClr val="4687E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77639" y="322783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Can receive simulated data from another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017520" cy="512064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Power Supply</a:t>
            </a:r>
          </a:p>
          <a:p>
            <a:endParaRPr sz="1700" b="1">
              <a:solidFill>
                <a:srgbClr val="33BEB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77639" y="386791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Provides stable electrical power.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3017520" cy="512064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Buzzer / Alarm (optional)</a:t>
            </a:r>
          </a:p>
          <a:p>
            <a:endParaRPr sz="1700" b="1">
              <a:solidFill>
                <a:srgbClr val="4687E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39" y="450799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Indicates an executed simulated signal or fault.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19"/>
            <a:ext cx="3017520" cy="512064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Emergency Stop</a:t>
            </a:r>
          </a:p>
          <a:p>
            <a:endParaRPr sz="1700" b="1">
              <a:solidFill>
                <a:srgbClr val="33BEB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77639" y="5148071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8FC"/>
                </a:solidFill>
              </a:rPr>
              <a:t>Disables the system output during a fault.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12. Why These Components?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Microcontroller/PC: inexpensive and programmable for a classroom demonstration.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Price generator: creates repeatable inputs without connecting to a live exchange.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LED/display: makes the invisible software decision visible to the audience.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Network module: demonstrates how data can enter a trading system.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Power supply: provides stable operation for electronics.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Emergency stop: demonstrates a basic operational-safety principle.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13. What Happens When Input Is Given?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Input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31720" y="224028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96311" y="192024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Read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7951" y="224028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52544" y="192024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Calculate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44184" y="224028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192024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Compare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24028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65007" y="192024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Risk 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56648" y="224028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21239" y="192024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Input is sampled by the controller.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The algorithm calculates the relevant price difference or rule condition.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The result is compared with the threshold.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If risk conditions pass, a simulated order signal is produced.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The display/LED updates so the audience can observe the output.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14. How Is the Output Generated?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3017520" cy="16459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Example Input</a:t>
            </a:r>
          </a:p>
          <a:p>
            <a:r>
              <a:rPr sz="1300">
                <a:solidFill>
                  <a:srgbClr val="F5F8FC"/>
                </a:solidFill>
              </a:rPr>
              <a:t>Price A = ₹100.00
Price B = ₹100.10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417320"/>
            <a:ext cx="3017520" cy="164592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Algorithm</a:t>
            </a:r>
          </a:p>
          <a:p>
            <a:r>
              <a:rPr sz="1300">
                <a:solidFill>
                  <a:srgbClr val="F5F8FC"/>
                </a:solidFill>
              </a:rPr>
              <a:t>Difference = ₹0.10
Threshold = ₹0.05
Condition = 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17320"/>
            <a:ext cx="3017520" cy="1645920"/>
          </a:xfrm>
          <a:prstGeom prst="roundRect">
            <a:avLst/>
          </a:prstGeom>
          <a:solidFill>
            <a:srgbClr val="141F31"/>
          </a:solidFill>
          <a:ln>
            <a:solidFill>
              <a:srgbClr val="53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53BE73"/>
                </a:solidFill>
              </a:rPr>
              <a:t>Output</a:t>
            </a:r>
          </a:p>
          <a:p>
            <a:r>
              <a:rPr sz="1300">
                <a:solidFill>
                  <a:srgbClr val="F5F8FC"/>
                </a:solidFill>
              </a:rPr>
              <a:t>Signal = BUY/SELL
LED = ON
Counter = +1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The output is a simulated signal. In a real system, an order manager would validate and route an order to an authorized 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15. What If One Component Fails?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E1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E15656"/>
                </a:solidFill>
              </a:rPr>
              <a:t>Sensor / Data Failure</a:t>
            </a:r>
          </a:p>
          <a:p>
            <a:r>
              <a:rPr sz="1300">
                <a:solidFill>
                  <a:srgbClr val="F5F8FC"/>
                </a:solidFill>
              </a:rPr>
              <a:t>Stop new decisions and flag stale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371600"/>
            <a:ext cx="256032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F5A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F5A641"/>
                </a:solidFill>
              </a:rPr>
              <a:t>Controller Failure</a:t>
            </a:r>
          </a:p>
          <a:p>
            <a:r>
              <a:rPr sz="1300">
                <a:solidFill>
                  <a:srgbClr val="F5F8FC"/>
                </a:solidFill>
              </a:rPr>
              <a:t>Watchdog resets system; output disabled.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56032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Network Failure</a:t>
            </a:r>
          </a:p>
          <a:p>
            <a:r>
              <a:rPr sz="1300">
                <a:solidFill>
                  <a:srgbClr val="F5F8FC"/>
                </a:solidFill>
              </a:rPr>
              <a:t>Do not send new orders; enter safe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1371600"/>
            <a:ext cx="2560320" cy="1508760"/>
          </a:xfrm>
          <a:prstGeom prst="roundRect">
            <a:avLst/>
          </a:prstGeom>
          <a:solidFill>
            <a:srgbClr val="141F31"/>
          </a:solidFill>
          <a:ln>
            <a:solidFill>
              <a:srgbClr val="53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53BE73"/>
                </a:solidFill>
              </a:rPr>
              <a:t>Power Failure</a:t>
            </a:r>
          </a:p>
          <a:p>
            <a:r>
              <a:rPr sz="1300">
                <a:solidFill>
                  <a:srgbClr val="F5F8FC"/>
                </a:solidFill>
              </a:rPr>
              <a:t>System shuts down; restart after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Real trading systems use redundancy, monitoring, circuit breakers and fail-safe controls because computers occasionally decide to become dramatic.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16. Specifications of the Working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926080" cy="7315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Size / Capacity</a:t>
            </a:r>
          </a:p>
          <a:p>
            <a:r>
              <a:rPr sz="1300">
                <a:solidFill>
                  <a:srgbClr val="F5F8FC"/>
                </a:solidFill>
              </a:rPr>
              <a:t>Approx. 30 × 20 × 15 cm; designed for one demonstration unit.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926080" cy="7315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Power Requirement</a:t>
            </a:r>
          </a:p>
          <a:p>
            <a:r>
              <a:rPr sz="1300">
                <a:solidFill>
                  <a:srgbClr val="F5F8FC"/>
                </a:solidFill>
              </a:rPr>
              <a:t>Typically 5 V USB for a small microcontroller model; exact value depends on components.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2926080" cy="7315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Accuracy</a:t>
            </a:r>
          </a:p>
          <a:p>
            <a:r>
              <a:rPr sz="1300">
                <a:solidFill>
                  <a:srgbClr val="F5F8FC"/>
                </a:solidFill>
              </a:rPr>
              <a:t>Digital calculations are highly repeatable; practical accuracy depends on sensors/input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2926080" cy="731520"/>
          </a:xfrm>
          <a:prstGeom prst="roundRect">
            <a:avLst/>
          </a:prstGeom>
          <a:solidFill>
            <a:srgbClr val="141F31"/>
          </a:solidFill>
          <a:ln>
            <a:solidFill>
              <a:srgbClr val="F5A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F5A641"/>
                </a:solidFill>
              </a:rPr>
              <a:t>Estimated Cost</a:t>
            </a:r>
          </a:p>
          <a:p>
            <a:r>
              <a:rPr sz="1300">
                <a:solidFill>
                  <a:srgbClr val="F5F8FC"/>
                </a:solidFill>
              </a:rPr>
              <a:t>Low-cost educational build; commonly around ₹1,500–₹4,000 depending on display, board and enclosure.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2926080" cy="731520"/>
          </a:xfrm>
          <a:prstGeom prst="roundRect">
            <a:avLst/>
          </a:prstGeom>
          <a:solidFill>
            <a:srgbClr val="141F31"/>
          </a:solidFill>
          <a:ln>
            <a:solidFill>
              <a:srgbClr val="F5A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F5A641"/>
                </a:solidFill>
              </a:rPr>
              <a:t>Environmental Limits</a:t>
            </a:r>
          </a:p>
          <a:p>
            <a:r>
              <a:rPr sz="1300">
                <a:solidFill>
                  <a:srgbClr val="F5F8FC"/>
                </a:solidFill>
              </a:rPr>
              <a:t>Keep electronics dry, ventilated and away from excessive heat, dust and vibration.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17.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Student model is a simulation and does not reproduce professional exchange infrastructure.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Real HFT requires specialized networking, market-data feeds, exchange connectivity and substantial engineering.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Low latency does not guarantee profit; transaction costs, slippage and competition matter.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Strategies can fail when market conditions change.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Hardware, network or software failures can create incorrect decisions.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</a:defRPr>
            </a:pPr>
            <a:r>
              <a:t>• Regulatory, compliance and risk-management requirements apply to real-world trading.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18. Real HFT vs Our Working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3200400"/>
          </a:xfrm>
          <a:prstGeom prst="roundRect">
            <a:avLst/>
          </a:prstGeom>
          <a:solidFill>
            <a:srgbClr val="141F31"/>
          </a:solidFill>
          <a:ln>
            <a:solidFill>
              <a:srgbClr val="468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4687E6"/>
                </a:solidFill>
              </a:rPr>
              <a:t>Professional HFT</a:t>
            </a:r>
          </a:p>
          <a:p>
            <a:r>
              <a:rPr sz="1300">
                <a:solidFill>
                  <a:srgbClr val="F5F8FC"/>
                </a:solidFill>
              </a:rPr>
              <a:t>• Live exchange data
• Specialized servers / networking
• Very low latency
• Sophisticated strategies
• Real risk &amp; compliance controls
• Real financial consequences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417320"/>
            <a:ext cx="5212080" cy="320040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Our Demonstration</a:t>
            </a:r>
          </a:p>
          <a:p>
            <a:r>
              <a:rPr sz="1300">
                <a:solidFill>
                  <a:srgbClr val="F5F8FC"/>
                </a:solidFill>
              </a:rPr>
              <a:t>• Simulated price input
• Microcontroller / PC
• Visible decision process
• Simple threshold rule
• Basic fail-safe logic
• No real-money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19. Demonstration Flow / Presentation 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Power 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31720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96311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Enter / Generate Price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7951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52544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Algorithm Processes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44184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08776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Risk Check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65007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LED / Display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56648" y="2148840"/>
            <a:ext cx="164592" cy="320040"/>
          </a:xfrm>
          <a:prstGeom prst="rightArrow">
            <a:avLst/>
          </a:prstGeom>
          <a:solidFill>
            <a:srgbClr val="33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21239" y="1828800"/>
            <a:ext cx="1691639" cy="96012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8FC"/>
                </a:solidFill>
              </a:rPr>
              <a:t>Explain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Start the model and show the normal/ready state.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Change the input price to cross the threshold.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Observe the decision indicator and explain why it changed.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Trigger an unsafe condition to demonstrate the emergency stop/fail-safe behavior.</a:t>
            </a:r>
          </a:p>
          <a:p>
            <a:pPr>
              <a:spcAft>
                <a:spcPts val="1200"/>
              </a:spcAft>
              <a:defRPr sz="1600">
                <a:solidFill>
                  <a:srgbClr val="F5F8FC"/>
                </a:solidFill>
              </a:defRPr>
            </a:pPr>
            <a:r>
              <a:t>• Reset and repeat with a different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8FC"/>
                </a:solidFill>
              </a:rPr>
              <a:t>20.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8FC"/>
                </a:solidFill>
              </a:defRPr>
            </a:pPr>
            <a:r>
              <a:t>• HFT uses algorithms and high-performance technology to process market information and execute decisions rapidly.</a:t>
            </a:r>
          </a:p>
          <a:p>
            <a:pPr>
              <a:spcAft>
                <a:spcPts val="1200"/>
              </a:spcAft>
              <a:defRPr sz="1900">
                <a:solidFill>
                  <a:srgbClr val="F5F8FC"/>
                </a:solidFill>
              </a:defRPr>
            </a:pPr>
            <a:r>
              <a:t>• The core pipeline is: data → strategy → risk → order → execution → feedback.</a:t>
            </a:r>
          </a:p>
          <a:p>
            <a:pPr>
              <a:spcAft>
                <a:spcPts val="1200"/>
              </a:spcAft>
              <a:defRPr sz="1900">
                <a:solidFill>
                  <a:srgbClr val="F5F8FC"/>
                </a:solidFill>
              </a:defRPr>
            </a:pPr>
            <a:r>
              <a:t>• A working model can demonstrate the same logic using simulated inputs and visible outputs.</a:t>
            </a:r>
          </a:p>
          <a:p>
            <a:pPr>
              <a:spcAft>
                <a:spcPts val="1200"/>
              </a:spcAft>
              <a:defRPr sz="1900">
                <a:solidFill>
                  <a:srgbClr val="F5F8FC"/>
                </a:solidFill>
              </a:defRPr>
            </a:pPr>
            <a:r>
              <a:t>• Safety, reliability and risk controls are essential, not optional decorations.</a:t>
            </a:r>
          </a:p>
          <a:p>
            <a:pPr>
              <a:spcAft>
                <a:spcPts val="1200"/>
              </a:spcAft>
              <a:defRPr sz="1900">
                <a:solidFill>
                  <a:srgbClr val="F5F8FC"/>
                </a:solidFill>
              </a:defRPr>
            </a:pPr>
            <a:r>
              <a:t>• Professional HFT is a complex financial-technology system, far beyond simply making a program trade quickly.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5257800"/>
            <a:ext cx="6217920" cy="685800"/>
          </a:xfrm>
          <a:prstGeom prst="roundRect">
            <a:avLst/>
          </a:prstGeom>
          <a:solidFill>
            <a:srgbClr val="141F31"/>
          </a:solidFill>
          <a:ln>
            <a:solidFill>
              <a:srgbClr val="33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700" b="1">
                <a:solidFill>
                  <a:srgbClr val="33BEB4"/>
                </a:solidFill>
              </a:rPr>
              <a:t>Final message</a:t>
            </a:r>
          </a:p>
          <a:p>
            <a:r>
              <a:rPr sz="1300">
                <a:solidFill>
                  <a:srgbClr val="F5F8FC"/>
                </a:solidFill>
              </a:rPr>
              <a:t>Speed + Algorithm + Infrastructure + Risk Control = HFT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1BED0"/>
                </a:solidFill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tamilpradeep23@gmail.com</cp:lastModifiedBy>
  <cp:revision>2</cp:revision>
  <dcterms:created xsi:type="dcterms:W3CDTF">2013-01-27T09:14:16Z</dcterms:created>
  <dcterms:modified xsi:type="dcterms:W3CDTF">2026-09-02T15:35:09Z</dcterms:modified>
  <cp:category/>
</cp:coreProperties>
</file>