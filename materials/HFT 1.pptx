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Calibri"/>
              </a:rPr>
              <a:t>Approximate Execution Latency (milliseconds, log scale)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(log scale, illustrative)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C6B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D4F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Manual /
Phone Order</c:v>
                  </c:pt>
                  <c:pt idx="1">
                    <c:v>Standard
Algo Trading</c:v>
                  </c:pt>
                  <c:pt idx="2">
                    <c:v>High-Frequency
Trading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1500</c:v>
                </c:pt>
                <c:pt idx="1">
                  <c:v>8</c:v>
                </c:pt>
                <c:pt idx="2">
                  <c:v>0.05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12700" cap="flat">
              <a:solidFill>
                <a:srgbClr val="E1E7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A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">
            <a:off x="0" y="1188720"/>
            <a:ext cx="3840480" cy="0"/>
          </a:xfrm>
          <a:prstGeom prst="line">
            <a:avLst/>
          </a:prstGeom>
          <a:noFill/>
          <a:ln w="19050">
            <a:solidFill>
              <a:srgbClr val="2A35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0" y="1508760"/>
            <a:ext cx="3383280" cy="0"/>
          </a:xfrm>
          <a:prstGeom prst="line">
            <a:avLst/>
          </a:prstGeom>
          <a:noFill/>
          <a:ln w="19050">
            <a:solidFill>
              <a:srgbClr val="2A35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080000">
            <a:off x="0" y="1828800"/>
            <a:ext cx="292608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080000">
            <a:off x="0" y="2148840"/>
            <a:ext cx="2468880" cy="0"/>
          </a:xfrm>
          <a:prstGeom prst="line">
            <a:avLst/>
          </a:prstGeom>
          <a:noFill/>
          <a:ln w="19050">
            <a:solidFill>
              <a:srgbClr val="2A35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1080000">
            <a:off x="0" y="2468880"/>
            <a:ext cx="2011680" cy="0"/>
          </a:xfrm>
          <a:prstGeom prst="line">
            <a:avLst/>
          </a:prstGeom>
          <a:noFill/>
          <a:ln w="19050">
            <a:solidFill>
              <a:srgbClr val="2A35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HIGH-FREQUENCY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TRADING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658368" y="3977640"/>
            <a:ext cx="237744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605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Speed, algorithms, and the architecture behind modern electronic markets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SYSTEMS &amp; FINANCE OVERVIEW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BACKGROUND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the trading floor to the microsecond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19456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1970s–1990s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Exchanges shift from open-outcry floors to electronic order books, laying the groundwork for automated trading.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29000" y="19202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219456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2697480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SEC's Regulation NMS (in the U.S.) fragments trading across venues and rewards the fastest, most efficient routers — a major catalyst for HFT.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9202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219456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2005–2010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2697480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Co-location, direct data feeds, and FPGA hardware turn trading into a hardware-and-network speed race.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89720" y="192024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18320" y="219456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9418320" y="21945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18320" y="2697480"/>
            <a:ext cx="21945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HFT firms are a dominant source of liquidity in equities, futures, and FX, operating at micro- and nanosecond scales.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B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TRADING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High-Frequency Trading?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94560"/>
            <a:ext cx="5760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form of algorithmic trading that uses powerful computers and software to execute a very large number of orders at extremely high speeds — often in microseconds or milliseconds.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5394960"/>
            <a:ext cx="1280160" cy="457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7" name="Shape 5"/>
          <p:cNvSpPr/>
          <p:nvPr/>
        </p:nvSpPr>
        <p:spPr>
          <a:xfrm>
            <a:off x="7360920" y="201168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185623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short holding periods (seconds or less)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60920" y="301752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286207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order-to-trade ratios and rapid cancellations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60920" y="402336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0" y="386791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automated, rules-based decision making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60920" y="5029200"/>
            <a:ext cx="164592" cy="164592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487375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Reliant on proximity and low-latency infrastructure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B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TRADING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does HFT exist?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Provision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3832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buy/sell quotes narrow bid-ask spreads and make markets easier to trade in.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</p:spPr>
      </p:sp>
      <p:sp>
        <p:nvSpPr>
          <p:cNvPr id="10" name="Shape 8"/>
          <p:cNvSpPr/>
          <p:nvPr/>
        </p:nvSpPr>
        <p:spPr>
          <a:xfrm>
            <a:off x="361188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11880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Efficiency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11880" y="33832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arbitrage across venues keeps prices for the same asset consistent everywhere.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</p:spPr>
      </p:sp>
      <p:sp>
        <p:nvSpPr>
          <p:cNvPr id="15" name="Shape 13"/>
          <p:cNvSpPr/>
          <p:nvPr/>
        </p:nvSpPr>
        <p:spPr>
          <a:xfrm>
            <a:off x="644652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Making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46520" y="33832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profit from small, consistent spreads by matching buyers and sellers at scale.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2011680"/>
            <a:ext cx="2606040" cy="310896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</p:spPr>
      </p:sp>
      <p:sp>
        <p:nvSpPr>
          <p:cNvPr id="20" name="Shape 18"/>
          <p:cNvSpPr/>
          <p:nvPr/>
        </p:nvSpPr>
        <p:spPr>
          <a:xfrm>
            <a:off x="9281160" y="2286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281160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Profit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81160" y="3383280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Tiny, repeatable price edges become meaningful profit when captured millions of times a day.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B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TRADING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does it work? The trading loop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67512" y="237744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2880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3291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live market data ticks (price, quotes, order book)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633472" y="31546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89504" y="237744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</p:spPr>
      </p:sp>
      <p:sp>
        <p:nvSpPr>
          <p:cNvPr id="10" name="Text 8"/>
          <p:cNvSpPr/>
          <p:nvPr/>
        </p:nvSpPr>
        <p:spPr>
          <a:xfrm>
            <a:off x="3026664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26664" y="2880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26664" y="3291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strategy models to detect a tradeable signal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55464" y="31546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111496" y="237744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</p:spPr>
      </p:sp>
      <p:sp>
        <p:nvSpPr>
          <p:cNvPr id="15" name="Text 13"/>
          <p:cNvSpPr/>
          <p:nvPr/>
        </p:nvSpPr>
        <p:spPr>
          <a:xfrm>
            <a:off x="5248656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48656" y="2880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248656" y="3291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risk checks and position/exposure limits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077456" y="31546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333488" y="237744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470648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70648" y="2880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70648" y="3291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the order to the exchange gateway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299448" y="31546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555480" y="2377440"/>
            <a:ext cx="1965960" cy="2103120"/>
          </a:xfrm>
          <a:prstGeom prst="roundRect">
            <a:avLst>
              <a:gd name="adj" fmla="val 3721"/>
            </a:avLst>
          </a:prstGeom>
          <a:solidFill>
            <a:srgbClr val="F4F7FD"/>
          </a:solidFill>
          <a:ln/>
        </p:spPr>
      </p:sp>
      <p:sp>
        <p:nvSpPr>
          <p:cNvPr id="25" name="Text 23"/>
          <p:cNvSpPr/>
          <p:nvPr/>
        </p:nvSpPr>
        <p:spPr>
          <a:xfrm>
            <a:off x="9692640" y="2487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92640" y="28803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692640" y="32918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fill confirmation and update positions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loop — from data tick to order out — typically completes in microseconds to low milliseconds.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B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TRADING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WITH CHART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advantage: order-to-execution time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37360"/>
          <a:ext cx="667512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737360"/>
            <a:ext cx="4069080" cy="4297680"/>
          </a:xfrm>
          <a:prstGeom prst="roundRect">
            <a:avLst>
              <a:gd name="adj" fmla="val 1798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7863840" y="19659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CHART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863840" y="2478024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8" name="Text 5"/>
          <p:cNvSpPr/>
          <p:nvPr/>
        </p:nvSpPr>
        <p:spPr>
          <a:xfrm>
            <a:off x="8092440" y="235000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 or phone-routed order can take over a second to reach the market.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863840" y="3392424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0" name="Text 7"/>
          <p:cNvSpPr/>
          <p:nvPr/>
        </p:nvSpPr>
        <p:spPr>
          <a:xfrm>
            <a:off x="8092440" y="326440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algorithmic trading executes in single-digit milliseconds.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863840" y="4306824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2" name="Text 9"/>
          <p:cNvSpPr/>
          <p:nvPr/>
        </p:nvSpPr>
        <p:spPr>
          <a:xfrm>
            <a:off x="8092440" y="417880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HFT systems act in tens of microseconds — roughly 30,000x faster than a manual order.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863840" y="5221224"/>
            <a:ext cx="109728" cy="109728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4" name="Text 11"/>
          <p:cNvSpPr/>
          <p:nvPr/>
        </p:nvSpPr>
        <p:spPr>
          <a:xfrm>
            <a:off x="8092440" y="509320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gap is why co-location and network engineering matter as much as strategy.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B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TRADING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Block Diagram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48156" y="228600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2A356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1308" y="2286000"/>
            <a:ext cx="1362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Handler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56916" y="26974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939796" y="228600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2A356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2948" y="2286000"/>
            <a:ext cx="1362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Engine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48556" y="26974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31436" y="228600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4588" y="2286000"/>
            <a:ext cx="1362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140196" y="26974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23076" y="228600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2A356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6228" y="2286000"/>
            <a:ext cx="1362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Mgmt.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(OMS)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831836" y="2697480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14716" y="228600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2A356E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87868" y="2286000"/>
            <a:ext cx="13624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523476" y="26974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889236" y="2446020"/>
            <a:ext cx="1051560" cy="10515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9706356" y="244602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415016" y="3657600"/>
            <a:ext cx="0" cy="502920"/>
          </a:xfrm>
          <a:prstGeom prst="line">
            <a:avLst/>
          </a:prstGeom>
          <a:noFill/>
          <a:ln w="19050">
            <a:solidFill>
              <a:srgbClr val="6E7A9E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002536" y="4160520"/>
            <a:ext cx="8412480" cy="0"/>
          </a:xfrm>
          <a:prstGeom prst="line">
            <a:avLst/>
          </a:prstGeom>
          <a:noFill/>
          <a:ln w="19050">
            <a:solidFill>
              <a:srgbClr val="6E7A9E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2002536" y="3657600"/>
            <a:ext cx="0" cy="502920"/>
          </a:xfrm>
          <a:prstGeom prst="line">
            <a:avLst/>
          </a:prstGeom>
          <a:noFill/>
          <a:ln w="19050">
            <a:solidFill>
              <a:srgbClr val="6E7A9E"/>
            </a:solidFill>
            <a:prstDash val="dash"/>
            <a:headEnd type="triangle"/>
          </a:ln>
        </p:spPr>
      </p:sp>
      <p:sp>
        <p:nvSpPr>
          <p:cNvPr id="24" name="Text 22"/>
          <p:cNvSpPr/>
          <p:nvPr/>
        </p:nvSpPr>
        <p:spPr>
          <a:xfrm>
            <a:off x="973836" y="429768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confirmations &amp; market data feed back into the loop in real time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layers: low-latency network (fiber / microwave) • co-located servers • time-synchronization (PTP/GPS) • monitoring &amp; kill-switch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3C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TRADING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components of an HFT 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21671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67919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Feed Handler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808" y="3108960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raw exchange data feeds and normalizes them into a usable format.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7FD"/>
          </a:solidFill>
          <a:ln/>
        </p:spPr>
      </p:sp>
      <p:sp>
        <p:nvSpPr>
          <p:cNvPr id="10" name="Shape 8"/>
          <p:cNvSpPr/>
          <p:nvPr/>
        </p:nvSpPr>
        <p:spPr>
          <a:xfrm>
            <a:off x="4544568" y="21671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44568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44568" y="267919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Signal Engine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44568" y="3108960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trading logic that turns data into buy/sell decisions.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7FD"/>
          </a:solidFill>
          <a:ln/>
        </p:spPr>
      </p:sp>
      <p:sp>
        <p:nvSpPr>
          <p:cNvPr id="15" name="Shape 13"/>
          <p:cNvSpPr/>
          <p:nvPr/>
        </p:nvSpPr>
        <p:spPr>
          <a:xfrm>
            <a:off x="8339328" y="216712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339328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9328" y="267919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Module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39328" y="3108960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position limits, exposure caps, and pre-trade sanity checks.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7FD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4270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478231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 System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5212080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order state, routing, and lifecycle from creation to fill.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40690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544568" y="4270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544568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44568" y="478231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Gateway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44568" y="5212080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orders into exchange-native protocol messages (e.g. FIX/binary).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40690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F4F7FD"/>
          </a:solidFill>
          <a:ln/>
        </p:spPr>
      </p:sp>
      <p:sp>
        <p:nvSpPr>
          <p:cNvPr id="30" name="Shape 28"/>
          <p:cNvSpPr/>
          <p:nvPr/>
        </p:nvSpPr>
        <p:spPr>
          <a:xfrm>
            <a:off x="8339328" y="4270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339328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39328" y="4782312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Network &amp; Co-location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39328" y="5212080"/>
            <a:ext cx="3163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proximity and dedicated links minimize signal travel time.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B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TRADING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these particular components?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65836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208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Handler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91840" y="202082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decisions are only as good as the data behind them — speed and accuracy of ingestion set the ceiling for everything downstream.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7919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Engine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91840" y="267919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strategy logic from infrastructure lets teams iterate on models without touching latency-critical code.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11064240" cy="65836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375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Module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91840" y="33375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runaway algorithm can cause outsized losses in seconds; independent risk checks are non-negotiable.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99592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91840" y="399592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order-state tracking prevents duplicate, lost, or mismatched orders under high message volume.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11064240" cy="65836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6542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Gateway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91840" y="4654296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venue speaks a different protocol; a dedicated gateway keeps that complexity out of the strategy layer.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31266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Co-location &amp; Network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91840" y="531266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sets a hard floor on latency — shorter cable runs are the only way to beat the speed of light.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B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TRADING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FUNCTIONS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component actually does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65836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54864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082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Handler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566160" y="202082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raw exchange packets → normalized price/quote ticks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624328"/>
            <a:ext cx="54864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791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Engine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66160" y="267919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Ticks + models → buy/sell/hold decision with size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82696"/>
            <a:ext cx="11064240" cy="65836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282696"/>
            <a:ext cx="54864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375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Module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66160" y="3337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order → approved order or rejection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41064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941064"/>
            <a:ext cx="54864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9959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66160" y="39959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order → tracked order with a unique lifecycle state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99432"/>
            <a:ext cx="11064240" cy="65836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599432"/>
            <a:ext cx="54864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65429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Exchange Gateway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566160" y="4654296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order → exchange-native message, and fills back to ticks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5257800"/>
            <a:ext cx="54864" cy="65836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312664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/ Co-location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566160" y="5312664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hop above → shaves microseconds off total transit time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B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TRADING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input tick to output order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2356" y="22860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232C61"/>
          </a:solidFill>
          <a:ln/>
        </p:spPr>
      </p:sp>
      <p:sp>
        <p:nvSpPr>
          <p:cNvPr id="5" name="Text 3"/>
          <p:cNvSpPr/>
          <p:nvPr/>
        </p:nvSpPr>
        <p:spPr>
          <a:xfrm>
            <a:off x="836676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6676" y="315468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 data tick arrives: price, size, timestamp, order-book update.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45636" y="3474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402836" y="22860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00D4FF"/>
          </a:solidFill>
          <a:ln/>
        </p:spPr>
      </p:sp>
      <p:sp>
        <p:nvSpPr>
          <p:cNvPr id="9" name="Text 7"/>
          <p:cNvSpPr/>
          <p:nvPr/>
        </p:nvSpPr>
        <p:spPr>
          <a:xfrm>
            <a:off x="4677156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77156" y="315468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41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signal engine evaluates the tick against its model; risk checks validate the proposed action — all within microseconds.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86116" y="34747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8243316" y="2286000"/>
            <a:ext cx="3383280" cy="2926080"/>
          </a:xfrm>
          <a:prstGeom prst="roundRect">
            <a:avLst>
              <a:gd name="adj" fmla="val 3125"/>
            </a:avLst>
          </a:prstGeom>
          <a:solidFill>
            <a:srgbClr val="232C61"/>
          </a:solidFill>
          <a:ln/>
        </p:spPr>
      </p:sp>
      <p:sp>
        <p:nvSpPr>
          <p:cNvPr id="13" name="Text 11"/>
          <p:cNvSpPr/>
          <p:nvPr/>
        </p:nvSpPr>
        <p:spPr>
          <a:xfrm>
            <a:off x="8517636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17636" y="3154680"/>
            <a:ext cx="2834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 (or cancellation) is generated and transmitted to the exchange gateway for execution.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round trip — tick in, order out — is measured in microseconds and repeats thousands of times per second per strategy.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3C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TRADING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if one component fails?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77340" y="228600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157734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Handler fails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fails safe: strategy pauses on stale data rather than trading blind.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11980" y="228600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44119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566160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Module fails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3657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halts entirely — no order is permitted to bypass risk control.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46620" y="228600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2466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 / Gateway fails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657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 to a redundant, hot-standby instance at a separate site.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 w="12700">
            <a:solidFill>
              <a:srgbClr val="E1E7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081260" y="228600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1008126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35440" y="3063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link fails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35440" y="3657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reroutes to a secondary path; if none available, positions are flattened.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4864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principle: fail safe, not fail open — every component defaults to “stop trading,” never “keep trading blind.”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B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TRADING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 HFT in the real world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1305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49808" y="262432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co-location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3063240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rack space inside or adjacent to the exchange data center.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4544568" y="21305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44568" y="262432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direct feeds &amp; membership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44568" y="3063240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 exchange membership, direct market data, and order-entry access.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96596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339328" y="21305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39328" y="262432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backtest strategy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39328" y="3063240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signal models and validate them on historical tick data.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42336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49808" y="472744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the low-latency stack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5166360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feed handlers, OMS, and risk engine on optimized hardware/software.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40690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544568" y="42336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44568" y="472744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44568" y="5166360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as required, implement pre-trade risk controls per regulation.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4069080"/>
            <a:ext cx="3566160" cy="1874520"/>
          </a:xfrm>
          <a:prstGeom prst="roundRect">
            <a:avLst>
              <a:gd name="adj" fmla="val 3902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339328" y="42336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39328" y="4727448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trade, then go live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39328" y="5166360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in production conditions, then deploy with tight monitoring.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B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TRADING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necessary to make it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54864" cy="1234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75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upfront and working capital for infrastructure and margin.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383280"/>
            <a:ext cx="54864" cy="1234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93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infrastructure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Low-latency servers, FPGAs/ASICs, and dedicated network links.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8006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800600"/>
            <a:ext cx="54864" cy="1234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910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 &amp; connectivity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5303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exchange feeds and co-located order-entry access.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196596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1965960"/>
            <a:ext cx="54864" cy="1234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2075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talent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83680" y="2468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Quants, low-latency engineers, and network specialists.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338328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9360" y="3383280"/>
            <a:ext cx="54864" cy="1234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34930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approval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83680" y="38862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Broker-dealer registration and exchange membership compliance.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4800600"/>
            <a:ext cx="5212080" cy="1234440"/>
          </a:xfrm>
          <a:prstGeom prst="roundRect">
            <a:avLst>
              <a:gd name="adj" fmla="val 5926"/>
            </a:avLst>
          </a:prstGeom>
          <a:solidFill>
            <a:srgbClr val="F4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4800600"/>
            <a:ext cx="54864" cy="1234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49103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 framework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83680" y="5303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Pre-trade controls, kill switches, and continuous monitoring.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B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TRADING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Scale, power, accuracy, and cost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232C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/ CAPACITY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61188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orders processed per day per strategy; racks scale from a few servers to full data-center footprints.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232C61"/>
          </a:solidFill>
          <a:ln/>
        </p:spPr>
      </p:sp>
      <p:sp>
        <p:nvSpPr>
          <p:cNvPr id="9" name="Text 7"/>
          <p:cNvSpPr/>
          <p:nvPr/>
        </p:nvSpPr>
        <p:spPr>
          <a:xfrm>
            <a:off x="356616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REQUIREMENT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2697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5–20 kW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66160" y="361188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draw per rack of trading servers and switches, before data-center cooling overhead.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232C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2697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&gt;99.9%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0" y="361188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message/order processing reliability expected; strategy “accuracy” (edge) is separately and continuously measured.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210312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232C61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23317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235440" y="26974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$1M–$100M+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235440" y="3611880"/>
            <a:ext cx="2240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setup costs across hardware, co-location, data feeds, and licenses, depending on scale.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illustrative order-of-magnitude ranges — actual numbers vary widely by firm, asset class, and strategy.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3C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TRADING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risks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65836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2082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Flash-crash / systemic risk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0" y="202082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feedback loops can amplify volatility in seconds (e.g. 2010 Flash Crash).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6791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infrastructure cost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0" y="267919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Co-location, hardware, and data fees create a steep barrier to entry.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11064240" cy="65836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37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fairness concerns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33375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advantages raise questions about a level playing field for other participants.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99592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scrutiny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0" y="399592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evolve quickly, and non-compliance risk is high given the speed of trading.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599432"/>
            <a:ext cx="11064240" cy="658368"/>
          </a:xfrm>
          <a:prstGeom prst="rect">
            <a:avLst/>
          </a:prstGeom>
          <a:solidFill>
            <a:srgbClr val="F4F7F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65429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/ technology risk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4654296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bug or bad model can cause large losses before a human can react.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1106424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3126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arms race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531266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erode quickly as competitors adopt faster hardware and better models.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B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TRADING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LIMITATIONS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and environmental constraints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1559052" y="228600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59052" y="2286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&amp; cooling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server racks generate significant heat; data-center cooling capacity limits how much hardware can be packed in.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</p:spPr>
      </p:sp>
      <p:sp>
        <p:nvSpPr>
          <p:cNvPr id="10" name="Shape 8"/>
          <p:cNvSpPr/>
          <p:nvPr/>
        </p:nvSpPr>
        <p:spPr>
          <a:xfrm>
            <a:off x="4393692" y="228600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93692" y="2286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56616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grid dependency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356616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require highly reliable, redundant power — outages directly threaten trading continuity.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</p:spPr>
      </p:sp>
      <p:sp>
        <p:nvSpPr>
          <p:cNvPr id="15" name="Shape 13"/>
          <p:cNvSpPr/>
          <p:nvPr/>
        </p:nvSpPr>
        <p:spPr>
          <a:xfrm>
            <a:off x="7228332" y="228600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228332" y="2286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distance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356616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speed of light sets a hard floor on latency; being farther from an exchange is a permanent disadvantage.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52560" y="201168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7FD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62972" y="2286000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62972" y="228600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235440" y="306324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&amp; site constraints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35440" y="3566160"/>
            <a:ext cx="22402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co-location space near exchanges is limited and costly, capping how much hardware a firm can deploy.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B9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TRADING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">
            <a:off x="8348472" y="182880"/>
            <a:ext cx="3840480" cy="0"/>
          </a:xfrm>
          <a:prstGeom prst="line">
            <a:avLst/>
          </a:prstGeom>
          <a:noFill/>
          <a:ln w="19050">
            <a:solidFill>
              <a:srgbClr val="2A35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-1080000">
            <a:off x="8805672" y="502920"/>
            <a:ext cx="3383280" cy="0"/>
          </a:xfrm>
          <a:prstGeom prst="line">
            <a:avLst/>
          </a:prstGeom>
          <a:noFill/>
          <a:ln w="19050">
            <a:solidFill>
              <a:srgbClr val="2A35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1080000">
            <a:off x="9262872" y="822960"/>
            <a:ext cx="2926080" cy="0"/>
          </a:xfrm>
          <a:prstGeom prst="line">
            <a:avLst/>
          </a:prstGeom>
          <a:noFill/>
          <a:ln w="38100">
            <a:solidFill>
              <a:srgbClr val="00D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-1080000">
            <a:off x="9720072" y="1143000"/>
            <a:ext cx="2468880" cy="0"/>
          </a:xfrm>
          <a:prstGeom prst="line">
            <a:avLst/>
          </a:prstGeom>
          <a:noFill/>
          <a:ln w="19050">
            <a:solidFill>
              <a:srgbClr val="2A35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-1080000">
            <a:off x="10177272" y="1463040"/>
            <a:ext cx="2011680" cy="0"/>
          </a:xfrm>
          <a:prstGeom prst="line">
            <a:avLst/>
          </a:prstGeom>
          <a:noFill/>
          <a:ln w="19050">
            <a:solidFill>
              <a:srgbClr val="2A35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takeaway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40080" y="2724912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603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HFT combines algorithms, hardware, and network engineering to trade at microsecond speed.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502152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purpose is liquidity, price efficiency, and capturing tiny, repeatable edges at scale.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279392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14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only as strong as its slowest, least reliable component.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5056632"/>
            <a:ext cx="128016" cy="128016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892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advantages come with real cost, risk, and regulatory responsibility.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154887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3C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TRADING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2026-09-02T03:07:20Z</dcterms:created>
  <dcterms:modified xsi:type="dcterms:W3CDTF">2026-09-02T03:07:20Z</dcterms:modified>
</cp:coreProperties>
</file>